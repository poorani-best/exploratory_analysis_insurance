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286B6-B30E-4C44-848B-5C05DCA08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48705-686F-46AF-98E9-7B35FF80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C7893-D626-49C3-AA85-946A96E38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74CD8-4666-4F7C-ABAD-4D8B1F9C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FF188-6763-4A50-9A4D-C35CDA93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1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9E752-08BE-41B9-9BF7-303AD3BEF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0A5E1-DEFE-41A8-BB1D-4569C633C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9A23C-AE1F-4DB9-9FCF-80BFEFD6E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E45A8-B3CB-4B90-9D23-2B2334530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BF5B1-052B-4F7C-9607-DAF22F04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584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E55D-3833-438B-813B-C6ECE851D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0691F-7819-4198-8808-5E550F945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5CD49-2430-4EAD-BCAB-CA5631D1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72628-FD3A-4970-80AB-51C10AC8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FB690-F910-4B6C-8FBB-41263BC5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53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2B2A-D8B6-441B-9FDF-A217A7499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9A840-C94D-4305-AF8A-342D290D4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96AD7-D4A8-4A72-9A17-1B6B189AF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7CDDF-EBE6-4F96-A1F1-F5DA4E49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FFD86-21EB-41B4-B079-DE1591B3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EFA9D-3E42-44D3-8489-07D35B81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32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106C-DA74-49FD-83FB-CA1832256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F468-44A8-414F-BF80-4B44CB121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F2FB0-7A82-44F7-AFB1-50BD27E47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7D70D4-3A9E-4497-B62F-65062D6F3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CA2255-C7D2-493B-8B28-36B8D6B1C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3E2D7E-0522-45F9-8EBD-B9EB74D3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8F50F-2F25-4570-9C89-A88D8B30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710827-FC09-40A4-AADB-3783A2E3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62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8663-8909-43BA-9CFA-EB1B726B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5CCF0D-31B7-48CD-B164-1309E822E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34E63-AC8D-423D-BD11-1E348141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9A9E3-25EA-47A9-9566-728A265B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338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FD488D-D7F0-4162-8F6B-39D08176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F0FACE-91D8-4018-BB0A-75BBCC46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5A6FD-AF2B-44EA-AB41-F25FE5384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941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0128-ED3A-4899-BF7B-288FD44DC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4E8E3-9663-4D05-8AD1-E58FA9AC3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99EB9-8FE1-400B-A386-0ADB77A0C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51D24-0D39-42C2-90E3-B942FCD53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1ADAF-8B8D-43D9-B281-C461971FC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BCDB1-7528-4328-8B1E-00D6AB45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142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4FC9-BA88-4A11-B077-5A53C778C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88E3F5-1997-4C16-9DAF-868C9B51D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8F43E-E351-4AF9-8D49-4A07C92A0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A16B6-80B0-43F2-BF2F-E69C0FE0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B0ECE-456E-4A57-828C-61655D51B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BEEA0-6C42-4847-A15C-D7E44446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405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E2EAC-A0B9-4C21-A63B-0DA9EB35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17699-3E0A-4E91-9615-5E0ECACE8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51A8F-C8F1-4D7F-BAC8-922390F1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D100E-1C50-4C80-87C0-73A186B5A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3642C-164B-4A13-A7EC-37CB5603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889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CB7206-ABFE-4389-BC55-25B22B82B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8A17B-7334-4F11-A51F-6436F3F3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23EA8-7414-4D53-ACC0-A42A63A08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186C0-DCEC-4525-8184-5A2B17084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B6DD4-A8C5-422A-A640-E4B0516E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56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6D4EFF-3875-4A7D-A1A9-9A8D5F94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32E63-6FA2-4FF2-B0B5-12E7BE6C9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83850-CCD0-4B30-A39A-BB8145645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49046-1A8B-492E-94DB-BF883843EBA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3BC82-DF6B-4756-9C32-FB5A409B8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D1383-C1B2-4FC6-BAD6-7C81A7F72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2002E-3F60-4118-AF70-33A1404DD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69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3D5B-8867-455F-8B5A-DCE0C3339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2098040"/>
            <a:ext cx="9982200" cy="102584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INSURANCE CLAIM ANALYSIS</a:t>
            </a:r>
            <a:endParaRPr lang="en-IN" b="1" dirty="0">
              <a:solidFill>
                <a:schemeClr val="accent4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1C715-6FB9-4837-B153-894745EC7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0300" y="3184526"/>
            <a:ext cx="4297680" cy="710882"/>
          </a:xfrm>
        </p:spPr>
        <p:txBody>
          <a:bodyPr>
            <a:normAutofit fontScale="92500"/>
          </a:bodyPr>
          <a:lstStyle/>
          <a:p>
            <a:pPr algn="r"/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AN EDA BY POORANI</a:t>
            </a:r>
            <a:endParaRPr lang="en-IN" sz="32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883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0AEA17-02CA-40F4-8863-94485AD87F88}"/>
              </a:ext>
            </a:extLst>
          </p:cNvPr>
          <p:cNvSpPr txBox="1"/>
          <p:nvPr/>
        </p:nvSpPr>
        <p:spPr>
          <a:xfrm>
            <a:off x="1744980" y="944880"/>
            <a:ext cx="8702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PROJECT OBJECTIVE</a:t>
            </a:r>
            <a:endParaRPr lang="en-I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B1EF3-519D-4739-8A29-BC29958E2D95}"/>
              </a:ext>
            </a:extLst>
          </p:cNvPr>
          <p:cNvSpPr txBox="1"/>
          <p:nvPr/>
        </p:nvSpPr>
        <p:spPr>
          <a:xfrm>
            <a:off x="1744980" y="2413337"/>
            <a:ext cx="870204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To perform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Exploratory Data Analysis (EDA)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on a Life Insurance Death Claims dataset to uncover meaningful patterns in claim behaviour, policyholder demographics, and risk factors — using Python-based data analysis tools.</a:t>
            </a:r>
          </a:p>
        </p:txBody>
      </p:sp>
    </p:spTree>
    <p:extLst>
      <p:ext uri="{BB962C8B-B14F-4D97-AF65-F5344CB8AC3E}">
        <p14:creationId xmlns:p14="http://schemas.microsoft.com/office/powerpoint/2010/main" val="2620487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F799C4-D1C9-4059-BC98-998A77EDE642}"/>
              </a:ext>
            </a:extLst>
          </p:cNvPr>
          <p:cNvSpPr txBox="1"/>
          <p:nvPr/>
        </p:nvSpPr>
        <p:spPr>
          <a:xfrm>
            <a:off x="1744980" y="944880"/>
            <a:ext cx="8702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DATASET SUMMARY</a:t>
            </a:r>
            <a:endParaRPr lang="en-I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2F1BF-9186-4418-9802-E6104AA73CA5}"/>
              </a:ext>
            </a:extLst>
          </p:cNvPr>
          <p:cNvSpPr txBox="1"/>
          <p:nvPr/>
        </p:nvSpPr>
        <p:spPr>
          <a:xfrm>
            <a:off x="1744980" y="2240280"/>
            <a:ext cx="8702040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This analysis is performed with a Kaggle dataset, life insurance death claims recorded during the period 2018 – 2022 with claim amounts, claim status and claim outcomes in two datasets for two categories individual policy and group policy. It serves as a real-world representation of how insurance companies process and evaluate death claims.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54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A0062C-0E90-433B-B260-C7B2C54EE62B}"/>
              </a:ext>
            </a:extLst>
          </p:cNvPr>
          <p:cNvSpPr txBox="1"/>
          <p:nvPr/>
        </p:nvSpPr>
        <p:spPr>
          <a:xfrm>
            <a:off x="1744980" y="944880"/>
            <a:ext cx="8702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DATASET CLEANING</a:t>
            </a:r>
            <a:endParaRPr lang="en-I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F6DE5-05EC-40EA-B9A0-C77409DAE065}"/>
              </a:ext>
            </a:extLst>
          </p:cNvPr>
          <p:cNvSpPr txBox="1"/>
          <p:nvPr/>
        </p:nvSpPr>
        <p:spPr>
          <a:xfrm>
            <a:off x="1744980" y="2225040"/>
            <a:ext cx="8702040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Both the datasets been mounted onto Python for the analysis process.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Dataset cleaning was performed checking the datatypes, handling missing values, standardized duplicates.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Fine-tuned column names and lengthy texts for readability and better analysis.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767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064A3-0CE0-4018-8679-064D53DBD95D}"/>
              </a:ext>
            </a:extLst>
          </p:cNvPr>
          <p:cNvSpPr txBox="1"/>
          <p:nvPr/>
        </p:nvSpPr>
        <p:spPr>
          <a:xfrm>
            <a:off x="1744980" y="502920"/>
            <a:ext cx="8702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Distribution Of Claim Settlement Ratio</a:t>
            </a:r>
            <a:endParaRPr lang="en-I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71B580-5089-4B3F-B1BC-02755B4963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61"/>
          <a:stretch/>
        </p:blipFill>
        <p:spPr bwMode="auto">
          <a:xfrm>
            <a:off x="999242" y="1478279"/>
            <a:ext cx="9722098" cy="329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D0ABD1-23B4-4699-9C1E-2F07DF753B62}"/>
              </a:ext>
            </a:extLst>
          </p:cNvPr>
          <p:cNvSpPr txBox="1"/>
          <p:nvPr/>
        </p:nvSpPr>
        <p:spPr>
          <a:xfrm>
            <a:off x="2392935" y="5168708"/>
            <a:ext cx="740612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Settlement ratio is above 80% on whole in both categories.</a:t>
            </a:r>
            <a:endParaRPr lang="en-US" sz="2000" b="1" i="0" dirty="0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accent4">
                    <a:lumMod val="50000"/>
                  </a:schemeClr>
                </a:solidFill>
                <a:effectLst/>
              </a:rPr>
              <a:t>Most insurers settle &gt;95% of claims.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47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D70AD-AD4C-4791-83DE-0AEADB50C959}"/>
              </a:ext>
            </a:extLst>
          </p:cNvPr>
          <p:cNvSpPr txBox="1"/>
          <p:nvPr/>
        </p:nvSpPr>
        <p:spPr>
          <a:xfrm>
            <a:off x="1744980" y="502920"/>
            <a:ext cx="8702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Industry-Wide Death Claims Trends</a:t>
            </a:r>
            <a:endParaRPr lang="en-I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6196CAB-9A20-467B-9119-68DE88429F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1"/>
          <a:stretch/>
        </p:blipFill>
        <p:spPr bwMode="auto">
          <a:xfrm>
            <a:off x="1259956" y="1620253"/>
            <a:ext cx="9918506" cy="304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248FD3-A3AB-4E0D-88C5-9B70C53B8424}"/>
              </a:ext>
            </a:extLst>
          </p:cNvPr>
          <p:cNvSpPr txBox="1"/>
          <p:nvPr/>
        </p:nvSpPr>
        <p:spPr>
          <a:xfrm>
            <a:off x="2392935" y="5168708"/>
            <a:ext cx="740612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Claims volume surged in 2020-21 (COVID-19 impact).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Settlement ratios dipped slightly during this stress period.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22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E2C2A4-C92D-45C4-8476-2A824D6855BF}"/>
              </a:ext>
            </a:extLst>
          </p:cNvPr>
          <p:cNvSpPr txBox="1"/>
          <p:nvPr/>
        </p:nvSpPr>
        <p:spPr>
          <a:xfrm>
            <a:off x="1744980" y="502920"/>
            <a:ext cx="9243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Yearly Variation in Individual Death Claims</a:t>
            </a:r>
            <a:endParaRPr lang="en-I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24CBC82-A870-4B28-A528-CDB135E5A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480" y="1644744"/>
            <a:ext cx="7846060" cy="368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2899FF-91B4-4955-8F3E-0402F44520E7}"/>
              </a:ext>
            </a:extLst>
          </p:cNvPr>
          <p:cNvSpPr txBox="1"/>
          <p:nvPr/>
        </p:nvSpPr>
        <p:spPr>
          <a:xfrm>
            <a:off x="2663445" y="5564948"/>
            <a:ext cx="740612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2020-21 saw a dramatic spike in death claims — directly linked to COVID-19 pandemic mortality.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39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0EADDD-F280-43D0-A8EB-F040034A2128}"/>
              </a:ext>
            </a:extLst>
          </p:cNvPr>
          <p:cNvSpPr txBox="1"/>
          <p:nvPr/>
        </p:nvSpPr>
        <p:spPr>
          <a:xfrm>
            <a:off x="1744980" y="502920"/>
            <a:ext cx="9243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Top Performing Insurers </a:t>
            </a:r>
            <a:endParaRPr lang="en-I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B1C46F9-2760-43C1-9376-AD542DD37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61841"/>
            <a:ext cx="8686800" cy="322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1218C-28DD-4887-8CBD-79ED4860D458}"/>
              </a:ext>
            </a:extLst>
          </p:cNvPr>
          <p:cNvSpPr txBox="1"/>
          <p:nvPr/>
        </p:nvSpPr>
        <p:spPr>
          <a:xfrm>
            <a:off x="1933703" y="5296159"/>
            <a:ext cx="8324594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LIC tops both in individual claims, settlement as well as insurance volume.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255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A79380-B455-4D47-82CA-5FDD11FABDC1}"/>
              </a:ext>
            </a:extLst>
          </p:cNvPr>
          <p:cNvSpPr txBox="1"/>
          <p:nvPr/>
        </p:nvSpPr>
        <p:spPr>
          <a:xfrm>
            <a:off x="1447800" y="381000"/>
            <a:ext cx="97383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accent4">
                    <a:lumMod val="75000"/>
                  </a:schemeClr>
                </a:solidFill>
              </a:rPr>
              <a:t>Individual Death Claims Settlement Ratio By Insurer × Financial Year</a:t>
            </a:r>
            <a:endParaRPr lang="en-IN" sz="2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845EDF1-E18C-4DE3-9DF6-B456AB7F01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7"/>
          <a:stretch/>
        </p:blipFill>
        <p:spPr bwMode="auto">
          <a:xfrm>
            <a:off x="1447800" y="1245553"/>
            <a:ext cx="9403079" cy="400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5DA863-82AE-46EE-A52F-6537DB99974C}"/>
              </a:ext>
            </a:extLst>
          </p:cNvPr>
          <p:cNvSpPr txBox="1"/>
          <p:nvPr/>
        </p:nvSpPr>
        <p:spPr>
          <a:xfrm>
            <a:off x="1447801" y="5612447"/>
            <a:ext cx="9738359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Red cells reveal stress years (COVID impact in 2020-21) or structurally weaker insurers.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686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D77A8-E51A-4057-8639-0B30DAFAB53C}"/>
              </a:ext>
            </a:extLst>
          </p:cNvPr>
          <p:cNvSpPr txBox="1"/>
          <p:nvPr/>
        </p:nvSpPr>
        <p:spPr>
          <a:xfrm>
            <a:off x="1295400" y="502920"/>
            <a:ext cx="10149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Group vs Individual Death Claims — Industry Comparison</a:t>
            </a:r>
            <a:endParaRPr lang="en-IN" sz="32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C79BE-6B44-4863-8DF9-3761A3FC08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6"/>
          <a:stretch/>
        </p:blipFill>
        <p:spPr>
          <a:xfrm>
            <a:off x="1463040" y="1615440"/>
            <a:ext cx="9982200" cy="3322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0B9C39-C894-4348-B6DF-F663394E461E}"/>
              </a:ext>
            </a:extLst>
          </p:cNvPr>
          <p:cNvSpPr txBox="1"/>
          <p:nvPr/>
        </p:nvSpPr>
        <p:spPr>
          <a:xfrm>
            <a:off x="1752600" y="5130225"/>
            <a:ext cx="868680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Gradual increase seemed in Claims volume over years, highest in 2020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Settlement ration dropped down in 2020 (Pandemic high mortality impact) 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690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B779C3-3A7F-46FD-87DB-AAAD856B18CB}"/>
              </a:ext>
            </a:extLst>
          </p:cNvPr>
          <p:cNvSpPr txBox="1"/>
          <p:nvPr/>
        </p:nvSpPr>
        <p:spPr>
          <a:xfrm>
            <a:off x="1066800" y="441960"/>
            <a:ext cx="10241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Repudiation + Rejection Rate by Insurer — Individual</a:t>
            </a:r>
            <a:b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(2021-22) </a:t>
            </a:r>
            <a:endParaRPr lang="en-IN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96AA2ED-5570-4BB0-A4FE-594A10B31B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7"/>
          <a:stretch/>
        </p:blipFill>
        <p:spPr bwMode="auto">
          <a:xfrm>
            <a:off x="1662430" y="1642289"/>
            <a:ext cx="8867140" cy="366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880EA8-23C2-40DB-9402-777C29B696C8}"/>
              </a:ext>
            </a:extLst>
          </p:cNvPr>
          <p:cNvSpPr txBox="1"/>
          <p:nvPr/>
        </p:nvSpPr>
        <p:spPr>
          <a:xfrm>
            <a:off x="2118360" y="5448083"/>
            <a:ext cx="868680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High repudiation may signal stricter due diligence OR mis-selling.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Shriram tops in rejection.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470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4BCD6D-9A6D-453E-9293-46DDB841ADEE}"/>
              </a:ext>
            </a:extLst>
          </p:cNvPr>
          <p:cNvSpPr txBox="1"/>
          <p:nvPr/>
        </p:nvSpPr>
        <p:spPr>
          <a:xfrm>
            <a:off x="1021080" y="502920"/>
            <a:ext cx="10271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LIC vs Private Sector — Individual Death Claims</a:t>
            </a:r>
            <a:endParaRPr lang="en-I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F7066ED-1E3A-4061-AC84-553800B355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8"/>
          <a:stretch/>
        </p:blipFill>
        <p:spPr bwMode="auto">
          <a:xfrm>
            <a:off x="381000" y="1417320"/>
            <a:ext cx="11347578" cy="31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65E42A-E845-4B2F-A703-94948CB7A189}"/>
              </a:ext>
            </a:extLst>
          </p:cNvPr>
          <p:cNvSpPr txBox="1"/>
          <p:nvPr/>
        </p:nvSpPr>
        <p:spPr>
          <a:xfrm>
            <a:off x="1173480" y="5219483"/>
            <a:ext cx="996696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Overall report shows LIC is high in market share, moderate settlement and low in repudiation comparing to Private insurers.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011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C74E33-5E68-498B-B344-BF4739C82987}"/>
              </a:ext>
            </a:extLst>
          </p:cNvPr>
          <p:cNvSpPr txBox="1"/>
          <p:nvPr/>
        </p:nvSpPr>
        <p:spPr>
          <a:xfrm>
            <a:off x="1021080" y="502920"/>
            <a:ext cx="10271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Individual Death Claims — Yearly Summary</a:t>
            </a:r>
            <a:endParaRPr lang="en-IN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CD9FF3-C202-420E-8B49-B41D7B783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361535"/>
              </p:ext>
            </p:extLst>
          </p:nvPr>
        </p:nvGraphicFramePr>
        <p:xfrm>
          <a:off x="518160" y="1752600"/>
          <a:ext cx="11155679" cy="265605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44103">
                  <a:extLst>
                    <a:ext uri="{9D8B030D-6E8A-4147-A177-3AD203B41FA5}">
                      <a16:colId xmlns:a16="http://schemas.microsoft.com/office/drawing/2014/main" val="4201027989"/>
                    </a:ext>
                  </a:extLst>
                </a:gridCol>
                <a:gridCol w="980354">
                  <a:extLst>
                    <a:ext uri="{9D8B030D-6E8A-4147-A177-3AD203B41FA5}">
                      <a16:colId xmlns:a16="http://schemas.microsoft.com/office/drawing/2014/main" val="3255867085"/>
                    </a:ext>
                  </a:extLst>
                </a:gridCol>
                <a:gridCol w="1677272">
                  <a:extLst>
                    <a:ext uri="{9D8B030D-6E8A-4147-A177-3AD203B41FA5}">
                      <a16:colId xmlns:a16="http://schemas.microsoft.com/office/drawing/2014/main" val="2974453228"/>
                    </a:ext>
                  </a:extLst>
                </a:gridCol>
                <a:gridCol w="2016086">
                  <a:extLst>
                    <a:ext uri="{9D8B030D-6E8A-4147-A177-3AD203B41FA5}">
                      <a16:colId xmlns:a16="http://schemas.microsoft.com/office/drawing/2014/main" val="1523517984"/>
                    </a:ext>
                  </a:extLst>
                </a:gridCol>
                <a:gridCol w="1463529">
                  <a:extLst>
                    <a:ext uri="{9D8B030D-6E8A-4147-A177-3AD203B41FA5}">
                      <a16:colId xmlns:a16="http://schemas.microsoft.com/office/drawing/2014/main" val="532443392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1222569254"/>
                    </a:ext>
                  </a:extLst>
                </a:gridCol>
                <a:gridCol w="1732341">
                  <a:extLst>
                    <a:ext uri="{9D8B030D-6E8A-4147-A177-3AD203B41FA5}">
                      <a16:colId xmlns:a16="http://schemas.microsoft.com/office/drawing/2014/main" val="3212133620"/>
                    </a:ext>
                  </a:extLst>
                </a:gridCol>
                <a:gridCol w="1702474">
                  <a:extLst>
                    <a:ext uri="{9D8B030D-6E8A-4147-A177-3AD203B41FA5}">
                      <a16:colId xmlns:a16="http://schemas.microsoft.com/office/drawing/2014/main" val="296915772"/>
                    </a:ext>
                  </a:extLst>
                </a:gridCol>
              </a:tblGrid>
              <a:tr h="827255">
                <a:tc>
                  <a:txBody>
                    <a:bodyPr/>
                    <a:lstStyle/>
                    <a:p>
                      <a:pPr fontAlgn="t"/>
                      <a:endParaRPr lang="en-IN" b="1">
                        <a:effectLst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b="1">
                          <a:effectLst/>
                        </a:rPr>
                        <a:t>year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b="1" dirty="0" err="1">
                          <a:effectLst/>
                        </a:rPr>
                        <a:t>avg_settlement_ratio</a:t>
                      </a:r>
                      <a:endParaRPr lang="en-IN" b="1" dirty="0">
                        <a:effectLst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b="1" dirty="0" err="1">
                          <a:effectLst/>
                        </a:rPr>
                        <a:t>median_settlement_ratio</a:t>
                      </a:r>
                      <a:endParaRPr lang="en-IN" b="1" dirty="0">
                        <a:effectLst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b="1">
                          <a:effectLst/>
                        </a:rPr>
                        <a:t>total_claims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b="1">
                          <a:effectLst/>
                        </a:rPr>
                        <a:t>total_paid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b="1">
                          <a:effectLst/>
                        </a:rPr>
                        <a:t>total_repudiated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b="1" dirty="0" err="1">
                          <a:effectLst/>
                        </a:rPr>
                        <a:t>avg_repudiation_rate</a:t>
                      </a:r>
                      <a:endParaRPr lang="en-IN" b="1" dirty="0">
                        <a:effectLst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303698"/>
                  </a:ext>
                </a:extLst>
              </a:tr>
              <a:tr h="359498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2017-18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90.56%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847986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828314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4.74%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489124"/>
                  </a:ext>
                </a:extLst>
              </a:tr>
              <a:tr h="359498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2018-19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92.13%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96.60%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863237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842847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6372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3.36%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78985"/>
                  </a:ext>
                </a:extLst>
              </a:tr>
              <a:tr h="359498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2019-20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92.57%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97.44%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874849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846476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8927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2.92%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66060"/>
                  </a:ext>
                </a:extLst>
              </a:tr>
              <a:tr h="359498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2020-21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95.13%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98.01%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1209736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1190133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10952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1.88%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755027"/>
                  </a:ext>
                </a:extLst>
              </a:tr>
              <a:tr h="359498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2021-22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98.04%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98.34%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1608924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1587110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12609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1.78%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3586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75F6A0F-8A56-4E72-8760-5423AB9C06B9}"/>
              </a:ext>
            </a:extLst>
          </p:cNvPr>
          <p:cNvSpPr txBox="1"/>
          <p:nvPr/>
        </p:nvSpPr>
        <p:spPr>
          <a:xfrm>
            <a:off x="1173480" y="4950449"/>
            <a:ext cx="996696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Table shows overall industry summary on individual death claims year by year.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Settlement ratio has increased and repudiation rate has dropped much.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770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58909C-D455-4CA8-A16A-E6DCAF93456E}"/>
              </a:ext>
            </a:extLst>
          </p:cNvPr>
          <p:cNvSpPr/>
          <p:nvPr/>
        </p:nvSpPr>
        <p:spPr>
          <a:xfrm>
            <a:off x="2042160" y="2364641"/>
            <a:ext cx="839724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89628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266</TotalTime>
  <Words>458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Algerian</vt:lpstr>
      <vt:lpstr>Arial</vt:lpstr>
      <vt:lpstr>Arial Rounded MT Bold</vt:lpstr>
      <vt:lpstr>Calibri</vt:lpstr>
      <vt:lpstr>Calibri Light</vt:lpstr>
      <vt:lpstr>Office Theme</vt:lpstr>
      <vt:lpstr>INSURANCE CLAIM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14</cp:revision>
  <dcterms:created xsi:type="dcterms:W3CDTF">2026-05-29T08:14:51Z</dcterms:created>
  <dcterms:modified xsi:type="dcterms:W3CDTF">2026-05-29T12:41:41Z</dcterms:modified>
</cp:coreProperties>
</file>